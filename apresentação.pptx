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63" r:id="rId4"/>
    <p:sldId id="264" r:id="rId5"/>
    <p:sldId id="274" r:id="rId6"/>
    <p:sldId id="259" r:id="rId7"/>
    <p:sldId id="265" r:id="rId8"/>
    <p:sldId id="260" r:id="rId9"/>
    <p:sldId id="266" r:id="rId10"/>
    <p:sldId id="270" r:id="rId11"/>
    <p:sldId id="262" r:id="rId12"/>
    <p:sldId id="268" r:id="rId13"/>
    <p:sldId id="273" r:id="rId14"/>
    <p:sldId id="267" r:id="rId15"/>
    <p:sldId id="272" r:id="rId16"/>
    <p:sldId id="271" r:id="rId17"/>
    <p:sldId id="261" r:id="rId18"/>
    <p:sldId id="275" r:id="rId19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3568" autoAdjust="0"/>
  </p:normalViewPr>
  <p:slideViewPr>
    <p:cSldViewPr>
      <p:cViewPr>
        <p:scale>
          <a:sx n="100" d="100"/>
          <a:sy n="100" d="100"/>
        </p:scale>
        <p:origin x="30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1D787-918D-49E6-98AE-416E3EF9C54F}" type="datetimeFigureOut">
              <a:rPr lang="pt-PT" smtClean="0"/>
              <a:pPr/>
              <a:t>18-07-2010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6D365-3C27-43E7-976B-CA63C8FC7A8D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D314D-CF2A-4399-9C01-A5A1D09E710E}" type="datetimeFigureOut">
              <a:rPr lang="pt-PT" smtClean="0"/>
              <a:pPr/>
              <a:t>18-07-2010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06B05-15CD-49A0-84F2-DF21774F853C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2</a:t>
            </a:fld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viabilizar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3</a:t>
            </a:fld>
            <a:endParaRPr lang="pt-P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4</a:t>
            </a:fld>
            <a:endParaRPr lang="pt-P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proposto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5</a:t>
            </a:fld>
            <a:endParaRPr lang="pt-P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Sabemos ainda que..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6</a:t>
            </a:fld>
            <a:endParaRPr lang="pt-P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Vantagens:</a:t>
            </a:r>
            <a:r>
              <a:rPr lang="pt-PT" baseline="0" dirty="0" smtClean="0"/>
              <a:t> não perde canal, bom ganho, baixo custo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7</a:t>
            </a:fld>
            <a:endParaRPr lang="pt-P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pt-PT" dirty="0" smtClean="0"/>
              <a:t>Explicar </a:t>
            </a:r>
            <a:r>
              <a:rPr lang="pt-PT" dirty="0" err="1" smtClean="0"/>
              <a:t>sist</a:t>
            </a:r>
            <a:r>
              <a:rPr lang="pt-PT" dirty="0" smtClean="0"/>
              <a:t>. Óptico</a:t>
            </a:r>
          </a:p>
          <a:p>
            <a:pPr marL="228600" indent="-228600">
              <a:buFont typeface="+mj-lt"/>
              <a:buAutoNum type="arabicPeriod"/>
            </a:pPr>
            <a:r>
              <a:rPr lang="pt-PT" dirty="0" err="1" smtClean="0"/>
              <a:t>LDr</a:t>
            </a:r>
            <a:r>
              <a:rPr lang="pt-PT" dirty="0" smtClean="0"/>
              <a:t> </a:t>
            </a:r>
            <a:r>
              <a:rPr lang="pt-PT" dirty="0" smtClean="0"/>
              <a:t>e PD analógicos (V) </a:t>
            </a:r>
            <a:r>
              <a:rPr lang="pt-PT" dirty="0" smtClean="0">
                <a:sym typeface="Wingdings" pitchFamily="2" charset="2"/>
              </a:rPr>
              <a:t> </a:t>
            </a:r>
            <a:r>
              <a:rPr lang="pt-PT" dirty="0" smtClean="0"/>
              <a:t>PID analógico (V</a:t>
            </a:r>
            <a:r>
              <a:rPr lang="pt-PT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pt-PT" dirty="0" smtClean="0"/>
              <a:t>Simplista</a:t>
            </a:r>
            <a:r>
              <a:rPr lang="pt-PT" dirty="0" smtClean="0"/>
              <a:t>: retorna + </a:t>
            </a:r>
            <a:r>
              <a:rPr lang="pt-PT" dirty="0" smtClean="0">
                <a:sym typeface="Wingdings" pitchFamily="2" charset="2"/>
              </a:rPr>
              <a:t> baixar bomba (e </a:t>
            </a:r>
            <a:r>
              <a:rPr lang="pt-PT" dirty="0" smtClean="0">
                <a:sym typeface="Wingdings" pitchFamily="2" charset="2"/>
              </a:rPr>
              <a:t>inverso)</a:t>
            </a:r>
            <a:endParaRPr lang="pt-PT" baseline="0" dirty="0" smtClean="0">
              <a:sym typeface="Wingdings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baseline="0" dirty="0" smtClean="0"/>
              <a:t>Inferencial</a:t>
            </a:r>
            <a:r>
              <a:rPr lang="pt-PT" baseline="0" dirty="0" smtClean="0"/>
              <a:t>: e(t) n tem q tender para 0</a:t>
            </a:r>
          </a:p>
          <a:p>
            <a:r>
              <a:rPr lang="pt-PT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variável principal 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é a potência do canal sobrevivente, </a:t>
            </a:r>
          </a:p>
          <a:p>
            <a:r>
              <a:rPr lang="pt-PT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variável inferencial 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é a potência da bomba retornada, </a:t>
            </a:r>
          </a:p>
          <a:p>
            <a:r>
              <a:rPr lang="pt-PT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variável manipulada 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a corrente da bomba.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8</a:t>
            </a:fld>
            <a:endParaRPr lang="pt-P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SMF de 40km; (</a:t>
            </a:r>
            <a:r>
              <a:rPr lang="pt-PT" sz="1200" i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</a:t>
            </a:r>
            <a:r>
              <a:rPr lang="pt-PT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PT" sz="1200" i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coupler=multiplexer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 (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filtro=</a:t>
            </a:r>
            <a:r>
              <a:rPr lang="pt-PT" sz="1200" i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demultiplexer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Laser Driver: variação linear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tensão-corrente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9</a:t>
            </a:fld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duplicação da excursão </a:t>
            </a:r>
            <a:r>
              <a:rPr lang="pt-PT" dirty="0" err="1" smtClean="0"/>
              <a:t>pico-a-pico</a:t>
            </a:r>
            <a:r>
              <a:rPr lang="pt-PT" dirty="0" smtClean="0"/>
              <a:t>,</a:t>
            </a:r>
            <a:r>
              <a:rPr lang="pt-PT" baseline="0" dirty="0" smtClean="0"/>
              <a:t> </a:t>
            </a:r>
            <a:r>
              <a:rPr lang="pt-PT" baseline="0" dirty="0" err="1" smtClean="0"/>
              <a:t>qd</a:t>
            </a:r>
            <a:r>
              <a:rPr lang="pt-PT" baseline="0" dirty="0" smtClean="0"/>
              <a:t> </a:t>
            </a:r>
            <a:r>
              <a:rPr lang="pt-PT" baseline="0" smtClean="0"/>
              <a:t>comparado ao sem-controlo</a:t>
            </a:r>
            <a:r>
              <a:rPr lang="pt-PT" baseline="0" dirty="0" smtClean="0"/>
              <a:t> (</a:t>
            </a:r>
            <a:r>
              <a:rPr lang="pt-PT" baseline="0" dirty="0" err="1" smtClean="0"/>
              <a:t>qd</a:t>
            </a:r>
            <a:r>
              <a:rPr lang="pt-PT" baseline="0" dirty="0" smtClean="0"/>
              <a:t> o sinal volta a descer, está a ser alimentado com potência a menos)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10</a:t>
            </a:fld>
            <a:endParaRPr lang="pt-P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. PD: linear; R=10k p/ </a:t>
            </a:r>
            <a:r>
              <a:rPr lang="pt-PT" dirty="0" err="1" smtClean="0"/>
              <a:t>td</a:t>
            </a:r>
            <a:r>
              <a:rPr lang="pt-PT" dirty="0" smtClean="0"/>
              <a:t>; montagem</a:t>
            </a:r>
            <a:r>
              <a:rPr lang="pt-PT" baseline="0" dirty="0" smtClean="0"/>
              <a:t> 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 polarização (inversa) ou “</a:t>
            </a:r>
            <a:r>
              <a:rPr lang="pt-PT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zero </a:t>
            </a:r>
            <a:r>
              <a:rPr lang="pt-PT" sz="1200" i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bias</a:t>
            </a:r>
            <a:r>
              <a:rPr lang="pt-PT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PT" sz="1200" i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</a:t>
            </a:r>
            <a:r>
              <a:rPr lang="pt-PT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ou “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modo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fotovoltaico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Problema na variação do ganho, obrigar a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re-fazer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Vref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pq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Vref=vi·R2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/(R1+R2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pt-PT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Amplificador de instrumentação: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Vref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11</a:t>
            </a:fld>
            <a:endParaRPr lang="pt-P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componentes P, I e D independentes (Gsummer=1)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I: reset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D: c eliminação de ruído+oscilações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Gaiola de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Faraday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ligada 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à massa;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Pots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multivolta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 duplo divisor de tensão; </a:t>
            </a:r>
            <a:r>
              <a:rPr lang="pt-PT" sz="1200" kern="1200" baseline="0" dirty="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t>±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6V e GND; Condensadores na alimentação; 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A.Instrument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.: ts=16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pt-PT" sz="1200" i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slew</a:t>
            </a:r>
            <a:r>
              <a:rPr lang="pt-PT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rate &lt;12 V/</a:t>
            </a:r>
            <a:r>
              <a:rPr lang="pt-PT" sz="1200" i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</a:t>
            </a:r>
            <a:r>
              <a:rPr lang="pt-PT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P</a:t>
            </a:r>
            <a:r>
              <a:rPr lang="pt-PT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INA217; I,D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INA110.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Aosimples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LM258P; Rápido mas instável: AD8055.)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12</a:t>
            </a:fld>
            <a:endParaRPr lang="pt-P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. Exp2: transitório é provocado pelo sinal s2 sobre o s1 (bomba tem</a:t>
            </a:r>
            <a:r>
              <a:rPr lang="pt-PT" baseline="0" dirty="0" smtClean="0"/>
              <a:t> </a:t>
            </a:r>
            <a:r>
              <a:rPr lang="pt-PT" baseline="0" dirty="0" err="1" smtClean="0"/>
              <a:t>pca</a:t>
            </a:r>
            <a:r>
              <a:rPr lang="pt-PT" baseline="0" dirty="0" smtClean="0"/>
              <a:t> influencia</a:t>
            </a:r>
            <a:r>
              <a:rPr lang="pt-PT" dirty="0" smtClean="0"/>
              <a:t>)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Exp3: = a exp2 mas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LDr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mais lento e menos linear.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13</a:t>
            </a:fld>
            <a:endParaRPr lang="pt-P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. Da 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experiência 2 para a 3 só mudou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LDr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 menos ganhos)</a:t>
            </a:r>
          </a:p>
          <a:p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Summer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pt-PT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rapido</a:t>
            </a:r>
            <a:r>
              <a:rPr lang="pt-PT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diminuiu atraso (- integrativo do 8 p/ 9)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14</a:t>
            </a:fld>
            <a:endParaRPr lang="pt-P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Exp8: tempo de estabelecimento=0,5ms (PID)</a:t>
            </a:r>
          </a:p>
          <a:p>
            <a:r>
              <a:rPr lang="pt-PT" dirty="0" smtClean="0"/>
              <a:t>Exp9: consegue-se o mm q exp8 c </a:t>
            </a:r>
            <a:r>
              <a:rPr lang="pt-PT" dirty="0" err="1" smtClean="0"/>
              <a:t>mt</a:t>
            </a:r>
            <a:r>
              <a:rPr lang="pt-PT" dirty="0" smtClean="0"/>
              <a:t> menos I (100x -) (</a:t>
            </a:r>
            <a:r>
              <a:rPr lang="pt-PT" dirty="0" err="1" smtClean="0"/>
              <a:t>somador</a:t>
            </a:r>
            <a:r>
              <a:rPr lang="pt-PT" dirty="0" smtClean="0"/>
              <a:t> + </a:t>
            </a:r>
            <a:r>
              <a:rPr lang="pt-PT" dirty="0" err="1" smtClean="0"/>
              <a:t>rapido</a:t>
            </a:r>
            <a:r>
              <a:rPr lang="pt-PT" dirty="0" smtClean="0"/>
              <a:t>)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15</a:t>
            </a:fld>
            <a:endParaRPr lang="pt-P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Exp5: menor em </a:t>
            </a:r>
            <a:r>
              <a:rPr lang="pt-PT" dirty="0" err="1" smtClean="0"/>
              <a:t>pico-a-pico</a:t>
            </a:r>
            <a:endParaRPr lang="pt-PT" dirty="0" smtClean="0"/>
          </a:p>
          <a:p>
            <a:r>
              <a:rPr lang="pt-PT" dirty="0" smtClean="0"/>
              <a:t>Exp7: diferença p exp5 usar D e - I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16</a:t>
            </a:fld>
            <a:endParaRPr lang="pt-P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pt-PT" dirty="0" smtClean="0"/>
              <a:t>COMPROMISSO: sendo possível diminuir o </a:t>
            </a:r>
            <a:r>
              <a:rPr lang="pt-PT" baseline="0" dirty="0" err="1" smtClean="0"/>
              <a:t>pico-a-pico</a:t>
            </a:r>
            <a:r>
              <a:rPr lang="pt-PT" baseline="0" dirty="0" smtClean="0"/>
              <a:t> do</a:t>
            </a:r>
            <a:r>
              <a:rPr lang="pt-PT" dirty="0" smtClean="0"/>
              <a:t> transitório</a:t>
            </a:r>
            <a:r>
              <a:rPr lang="pt-PT" baseline="0" dirty="0" smtClean="0"/>
              <a:t>; ou o transitório de forma geral (</a:t>
            </a:r>
            <a:r>
              <a:rPr lang="pt-PT" baseline="0" dirty="0" err="1" smtClean="0"/>
              <a:t>Decidir:picos</a:t>
            </a:r>
            <a:r>
              <a:rPr lang="pt-PT" baseline="0" dirty="0" smtClean="0"/>
              <a:t> d </a:t>
            </a:r>
            <a:r>
              <a:rPr lang="pt-PT" baseline="0" dirty="0" err="1" smtClean="0"/>
              <a:t>pot</a:t>
            </a:r>
            <a:r>
              <a:rPr lang="pt-PT" baseline="0" dirty="0" smtClean="0"/>
              <a:t>.;</a:t>
            </a:r>
            <a:r>
              <a:rPr lang="pt-PT" baseline="0" dirty="0" err="1" smtClean="0"/>
              <a:t>pot.constante</a:t>
            </a:r>
            <a:r>
              <a:rPr lang="pt-PT" baseline="0" dirty="0" smtClean="0"/>
              <a:t>)</a:t>
            </a:r>
          </a:p>
          <a:p>
            <a:pPr marL="228600" indent="-228600">
              <a:buNone/>
            </a:pPr>
            <a:r>
              <a:rPr lang="pt-PT" dirty="0" smtClean="0"/>
              <a:t>Estabilizar rapidamente num ponto aproximadamente central aparenta</a:t>
            </a:r>
            <a:r>
              <a:rPr lang="pt-PT" baseline="0" dirty="0" smtClean="0"/>
              <a:t> causar &gt; </a:t>
            </a:r>
            <a:r>
              <a:rPr lang="pt-PT" baseline="0" dirty="0" err="1" smtClean="0"/>
              <a:t>pico-a-pico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17</a:t>
            </a:fld>
            <a:endParaRPr lang="pt-P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r>
              <a:rPr lang="pt-PT" dirty="0" smtClean="0"/>
              <a:t>sugestões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6B05-15CD-49A0-84F2-DF21774F853C}" type="slidenum">
              <a:rPr lang="pt-PT" smtClean="0"/>
              <a:pPr/>
              <a:t>18</a:t>
            </a:fld>
            <a:endParaRPr 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9D028-3371-4DFF-886D-0935CECDC192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F41F-FD4F-459A-80A8-BFE762334908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72DD-F45C-412B-8154-74213D2E4EE3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D922-F192-432F-9905-5CD19C359288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11B29-5012-4BB4-84C4-2CCDAA211ED2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D9D66-EAA6-4FB4-8ECD-94A14850A0F6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C074-B775-42AF-B812-417EE977D44E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97877-0515-470D-87EA-A37FF727CFC4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7EE9-52A7-4E10-959F-7245DFDC945B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3ABB-3A52-452F-935C-DC69D0501B6C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1333-7A8A-4770-AA5D-6F7D7CAA13D9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 smtClean="0"/>
              <a:t>Clique para editar os estilos</a:t>
            </a:r>
          </a:p>
          <a:p>
            <a:pPr lvl="1"/>
            <a:r>
              <a:rPr lang="pt-PT" dirty="0" smtClean="0"/>
              <a:t>Segundo nível</a:t>
            </a:r>
          </a:p>
          <a:p>
            <a:pPr lvl="2"/>
            <a:r>
              <a:rPr lang="pt-PT" dirty="0" smtClean="0"/>
              <a:t>Terceiro nível</a:t>
            </a:r>
          </a:p>
          <a:p>
            <a:pPr lvl="3"/>
            <a:r>
              <a:rPr lang="pt-PT" dirty="0" smtClean="0"/>
              <a:t>Quarto nível</a:t>
            </a:r>
          </a:p>
          <a:p>
            <a:pPr lvl="4"/>
            <a:r>
              <a:rPr lang="pt-PT" dirty="0" smtClean="0"/>
              <a:t>Quinto nível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C0BD4-01AC-4591-8DAC-2A48952652EF}" type="datetime1">
              <a:rPr lang="pt-PT" smtClean="0"/>
              <a:pPr/>
              <a:t>18-07-2010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 smtClean="0"/>
              <a:t>Controlo do Regime Transitório em Amplificadores Ópticos de Raman</a:t>
            </a:r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BF6C7-8ADF-478C-9F0A-D5C3A4BB048E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PT" dirty="0" smtClean="0"/>
              <a:t>Controlo do Regime Transitório em Amplificadores Ópticos de </a:t>
            </a:r>
            <a:r>
              <a:rPr lang="pt-PT" dirty="0" err="1" smtClean="0"/>
              <a:t>Raman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smtClean="0"/>
              <a:t>Pedro Luís Pereira Portela dos Reis</a:t>
            </a:r>
            <a:endParaRPr lang="pt-PT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57224" y="357166"/>
            <a:ext cx="890577" cy="978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aixaDeTexto 4"/>
          <p:cNvSpPr txBox="1"/>
          <p:nvPr/>
        </p:nvSpPr>
        <p:spPr>
          <a:xfrm>
            <a:off x="1928794" y="642918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>
                <a:solidFill>
                  <a:schemeClr val="accent3">
                    <a:lumMod val="75000"/>
                  </a:schemeClr>
                </a:solidFill>
              </a:rPr>
              <a:t>Universidade de Aveiro</a:t>
            </a:r>
            <a:endParaRPr lang="pt-PT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Estrutura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/>
              <a:t>Introdução</a:t>
            </a:r>
          </a:p>
          <a:p>
            <a:r>
              <a:rPr lang="pt-PT" dirty="0" smtClean="0"/>
              <a:t>Efeito Transitório</a:t>
            </a:r>
          </a:p>
          <a:p>
            <a:r>
              <a:rPr lang="pt-PT" dirty="0" smtClean="0"/>
              <a:t>Controlo Experimental</a:t>
            </a:r>
          </a:p>
          <a:p>
            <a:r>
              <a:rPr lang="pt-PT" dirty="0" smtClean="0"/>
              <a:t>Conclusão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Introdução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Amplificação de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Raman</a:t>
            </a: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1928 - Espalhamento de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Raman</a:t>
            </a: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 (C. V.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Raman</a:t>
            </a: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1972 - Amplificação de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Raman</a:t>
            </a:r>
            <a:endParaRPr lang="pt-PT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Vantagens: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Custo reduzido: meio activo é uma fibra comum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Actua em qualquer janela espectral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Perfil de ganho pode ser ajustado para ser constante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Efeitos não lineares e ruído menores</a:t>
            </a:r>
          </a:p>
          <a:p>
            <a:pPr lvl="2">
              <a:buNone/>
            </a:pP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(Têm surgido novos lasers de alta potência)</a:t>
            </a:r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3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Introdução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Efeito Transitório </a:t>
            </a:r>
          </a:p>
          <a:p>
            <a:pPr lvl="1"/>
            <a:r>
              <a:rPr lang="pt-PT" sz="2400" dirty="0" smtClean="0">
                <a:solidFill>
                  <a:schemeClr val="accent5">
                    <a:lumMod val="50000"/>
                  </a:schemeClr>
                </a:solidFill>
              </a:rPr>
              <a:t>Aumento do tráfego na rede </a:t>
            </a:r>
            <a:r>
              <a:rPr lang="pt-PT" sz="2400" dirty="0" smtClean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 A</a:t>
            </a:r>
            <a:r>
              <a:rPr lang="pt-PT" sz="2400" dirty="0" smtClean="0">
                <a:solidFill>
                  <a:schemeClr val="accent5">
                    <a:lumMod val="50000"/>
                  </a:schemeClr>
                </a:solidFill>
              </a:rPr>
              <a:t>umento da capacidade óptica </a:t>
            </a:r>
            <a:r>
              <a:rPr lang="pt-PT" sz="2400" dirty="0" smtClean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 Mais canais em simultâneo  </a:t>
            </a:r>
            <a:r>
              <a:rPr lang="pt-PT" sz="2400" dirty="0" smtClean="0">
                <a:solidFill>
                  <a:schemeClr val="accent5">
                    <a:lumMod val="50000"/>
                  </a:schemeClr>
                </a:solidFill>
              </a:rPr>
              <a:t>Redes ópticas dinâmicas:</a:t>
            </a:r>
          </a:p>
          <a:p>
            <a:pPr>
              <a:buNone/>
            </a:pPr>
            <a:endParaRPr lang="pt-PT" sz="2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pt-PT" sz="2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endParaRPr lang="pt-PT" sz="20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pt-PT" sz="2000" dirty="0" smtClean="0">
                <a:solidFill>
                  <a:schemeClr val="accent5">
                    <a:lumMod val="50000"/>
                  </a:schemeClr>
                </a:solidFill>
              </a:rPr>
              <a:t>Adição/remoção de canais </a:t>
            </a:r>
            <a:r>
              <a:rPr lang="pt-PT" sz="2000" dirty="0" smtClean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 Transitórios nos canais sobreviventes</a:t>
            </a:r>
          </a:p>
          <a:p>
            <a:pPr lvl="1"/>
            <a:r>
              <a:rPr lang="pt-PT" sz="2400" dirty="0" smtClean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Cadeias de amplificadores</a:t>
            </a:r>
          </a:p>
          <a:p>
            <a:endParaRPr lang="pt-PT" sz="2600" dirty="0" smtClean="0">
              <a:sym typeface="Wingdings" pitchFamily="2" charset="2"/>
            </a:endParaRP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pic>
        <p:nvPicPr>
          <p:cNvPr id="1026" name="Picture 2" descr="D:\Documents and Settings\Pedro\Ambiente de trabalho\final\figs\aon_simple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3286124"/>
            <a:ext cx="6215106" cy="13841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Introdução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Objectivo da Dissertação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Controlo de Transitório de um RFA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Efeito Transitório 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757758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Gerado por: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Alternância dos canais na fibra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Falha de dispositivos e cortes de fibras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Transmissão de pacotes com intervalos de tempo longos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Ao nível físico ocorre: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Interacção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sinal-bomba</a:t>
            </a:r>
            <a:endParaRPr lang="pt-PT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Interacção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sinal-sinal</a:t>
            </a:r>
            <a:endParaRPr lang="pt-PT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Quantos mais canais a alternar, mais amplificadores em cadeia e maior potência de lasers (sinais e bomba), maior é o transitório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Amplificação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co-propagante</a:t>
            </a: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 gera transitórios mais intensos e com tempos de subida mais rápidos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Fibras mais compridas melhoram a dinâmica do transitório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Mitigação do Efeito Transitório 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Algumas técnicas encontradas em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EDFAs</a:t>
            </a:r>
            <a:endParaRPr lang="pt-PT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Substituição por canais falsos; Informação falsa nos canais sobreviventes</a:t>
            </a:r>
            <a:endParaRPr lang="pt-PT" i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Mitigação no Domínio Óptico 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Anel de fibra; Cavidade ressonante com o uso de redes de </a:t>
            </a:r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Bragg</a:t>
            </a: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 (diminui ganho)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Mitigação com Recurso a Dispositivos Eléctricos</a:t>
            </a:r>
          </a:p>
          <a:p>
            <a:pPr lvl="2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Controlo da bomba: Canais de prova extra; </a:t>
            </a:r>
            <a:r>
              <a:rPr lang="pt-PT" u="sng" dirty="0" smtClean="0">
                <a:solidFill>
                  <a:schemeClr val="accent5">
                    <a:lumMod val="50000"/>
                  </a:schemeClr>
                </a:solidFill>
              </a:rPr>
              <a:t>Monitorar a própria bomba</a:t>
            </a:r>
            <a:endParaRPr lang="pt-PT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/>
          <p:cNvGrpSpPr/>
          <p:nvPr/>
        </p:nvGrpSpPr>
        <p:grpSpPr>
          <a:xfrm>
            <a:off x="3571868" y="2000240"/>
            <a:ext cx="5643602" cy="4357718"/>
            <a:chOff x="3571868" y="2000240"/>
            <a:chExt cx="5643602" cy="4357718"/>
          </a:xfrm>
        </p:grpSpPr>
        <p:grpSp>
          <p:nvGrpSpPr>
            <p:cNvPr id="13" name="Grupo 12"/>
            <p:cNvGrpSpPr/>
            <p:nvPr/>
          </p:nvGrpSpPr>
          <p:grpSpPr>
            <a:xfrm>
              <a:off x="3571868" y="2000240"/>
              <a:ext cx="5643602" cy="3104698"/>
              <a:chOff x="3571868" y="2000240"/>
              <a:chExt cx="5643602" cy="3104698"/>
            </a:xfrm>
          </p:grpSpPr>
          <p:pic>
            <p:nvPicPr>
              <p:cNvPr id="2050" name="Picture 2" descr="D:\Documents and Settings\Pedro\Ambiente de trabalho\final\figs\detalhe_analog_PID.pn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571868" y="2057486"/>
                <a:ext cx="5643602" cy="3047452"/>
              </a:xfrm>
              <a:prstGeom prst="rect">
                <a:avLst/>
              </a:prstGeom>
              <a:noFill/>
            </p:spPr>
          </p:pic>
          <p:sp>
            <p:nvSpPr>
              <p:cNvPr id="12" name="CaixaDeTexto 11"/>
              <p:cNvSpPr txBox="1"/>
              <p:nvPr/>
            </p:nvSpPr>
            <p:spPr>
              <a:xfrm>
                <a:off x="7643834" y="2000240"/>
                <a:ext cx="571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[1]</a:t>
                </a:r>
                <a:endParaRPr lang="pt-PT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5929354" y="5711627"/>
              <a:ext cx="3143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smtClean="0">
                  <a:solidFill>
                    <a:schemeClr val="accent5">
                      <a:lumMod val="50000"/>
                    </a:schemeClr>
                  </a:solidFill>
                </a:rPr>
                <a:t>[1] – figura adaptada de: </a:t>
              </a:r>
            </a:p>
            <a:p>
              <a:r>
                <a:rPr lang="pt-PT" sz="1200" dirty="0" smtClean="0">
                  <a:solidFill>
                    <a:schemeClr val="accent5">
                      <a:lumMod val="50000"/>
                    </a:schemeClr>
                  </a:solidFill>
                </a:rPr>
                <a:t>João Ferreira. </a:t>
              </a:r>
              <a:r>
                <a:rPr lang="pt-PT" sz="1200" dirty="0" err="1" smtClean="0">
                  <a:solidFill>
                    <a:schemeClr val="accent5">
                      <a:lumMod val="50000"/>
                    </a:schemeClr>
                  </a:solidFill>
                </a:rPr>
                <a:t>Transient</a:t>
              </a:r>
              <a:r>
                <a:rPr lang="pt-PT" sz="1200" dirty="0" smtClean="0">
                  <a:solidFill>
                    <a:schemeClr val="accent5">
                      <a:lumMod val="50000"/>
                    </a:schemeClr>
                  </a:solidFill>
                </a:rPr>
                <a:t> response </a:t>
              </a:r>
              <a:r>
                <a:rPr lang="pt-PT" sz="1200" dirty="0" err="1" smtClean="0">
                  <a:solidFill>
                    <a:schemeClr val="accent5">
                      <a:lumMod val="50000"/>
                    </a:schemeClr>
                  </a:solidFill>
                </a:rPr>
                <a:t>and</a:t>
              </a:r>
              <a:r>
                <a:rPr lang="pt-PT" sz="1200" dirty="0" smtClean="0">
                  <a:solidFill>
                    <a:schemeClr val="accent5">
                      <a:lumMod val="50000"/>
                    </a:schemeClr>
                  </a:solidFill>
                </a:rPr>
                <a:t> </a:t>
              </a:r>
              <a:r>
                <a:rPr lang="pt-PT" sz="1200" dirty="0" err="1" smtClean="0">
                  <a:solidFill>
                    <a:schemeClr val="accent5">
                      <a:lumMod val="50000"/>
                    </a:schemeClr>
                  </a:solidFill>
                </a:rPr>
                <a:t>control</a:t>
              </a:r>
              <a:r>
                <a:rPr lang="pt-PT" sz="1200" dirty="0" smtClean="0">
                  <a:solidFill>
                    <a:schemeClr val="accent5">
                      <a:lumMod val="50000"/>
                    </a:schemeClr>
                  </a:solidFill>
                </a:rPr>
                <a:t> </a:t>
              </a:r>
              <a:r>
                <a:rPr lang="pt-PT" sz="1200" dirty="0" err="1" smtClean="0">
                  <a:solidFill>
                    <a:schemeClr val="accent5">
                      <a:lumMod val="50000"/>
                    </a:schemeClr>
                  </a:solidFill>
                </a:rPr>
                <a:t>of</a:t>
              </a:r>
              <a:r>
                <a:rPr lang="pt-PT" sz="1200" dirty="0" smtClean="0">
                  <a:solidFill>
                    <a:schemeClr val="accent5">
                      <a:lumMod val="50000"/>
                    </a:schemeClr>
                  </a:solidFill>
                </a:rPr>
                <a:t> </a:t>
              </a:r>
              <a:r>
                <a:rPr lang="pt-PT" sz="1200" dirty="0" err="1" smtClean="0">
                  <a:solidFill>
                    <a:schemeClr val="accent5">
                      <a:lumMod val="50000"/>
                    </a:schemeClr>
                  </a:solidFill>
                </a:rPr>
                <a:t>pump-reflecting</a:t>
              </a:r>
              <a:r>
                <a:rPr lang="pt-PT" sz="1200" dirty="0" smtClean="0">
                  <a:solidFill>
                    <a:schemeClr val="accent5">
                      <a:lumMod val="50000"/>
                    </a:schemeClr>
                  </a:solidFill>
                </a:rPr>
                <a:t> RFA. FIO 2010.</a:t>
              </a:r>
              <a:endParaRPr lang="pt-PT" sz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8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 smtClean="0"/>
              <a:t>Controlo do Regime Transitório em Amplificadores Ópticos de </a:t>
            </a:r>
            <a:r>
              <a:rPr lang="pt-PT" dirty="0" err="1" smtClean="0"/>
              <a:t>Raman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Controlo Electrónico 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Controlo Inferencial</a:t>
            </a:r>
          </a:p>
          <a:p>
            <a:pPr lvl="1"/>
            <a:endParaRPr lang="pt-PT" dirty="0" smtClean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3146127"/>
            <a:ext cx="4048684" cy="6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Grupo 10"/>
          <p:cNvGrpSpPr/>
          <p:nvPr/>
        </p:nvGrpSpPr>
        <p:grpSpPr>
          <a:xfrm>
            <a:off x="285721" y="4304224"/>
            <a:ext cx="5286411" cy="1982296"/>
            <a:chOff x="285721" y="4304224"/>
            <a:chExt cx="5286411" cy="1982296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5"/>
            <a:srcRect t="5001" b="6430"/>
            <a:stretch>
              <a:fillRect/>
            </a:stretch>
          </p:blipFill>
          <p:spPr bwMode="auto">
            <a:xfrm>
              <a:off x="285721" y="4304224"/>
              <a:ext cx="5286411" cy="198229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0" name="CaixaDeTexto 9"/>
            <p:cNvSpPr txBox="1"/>
            <p:nvPr/>
          </p:nvSpPr>
          <p:spPr>
            <a:xfrm>
              <a:off x="1214414" y="4917056"/>
              <a:ext cx="571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 smtClean="0">
                  <a:solidFill>
                    <a:schemeClr val="accent5">
                      <a:lumMod val="50000"/>
                    </a:schemeClr>
                  </a:solidFill>
                </a:rPr>
                <a:t>e(t)</a:t>
              </a:r>
              <a:endParaRPr lang="pt-PT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:\Documents and Settings\Pedro\Ambiente de trabalho\final\figs\CRT_imple_transi_analo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29" y="2000240"/>
            <a:ext cx="5598457" cy="2643206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Montagem Experimental </a:t>
            </a:r>
          </a:p>
          <a:p>
            <a:pPr lvl="1"/>
            <a:endParaRPr lang="pt-PT" dirty="0" smtClean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3718786"/>
            <a:ext cx="4500594" cy="263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ângulo 8"/>
          <p:cNvSpPr/>
          <p:nvPr/>
        </p:nvSpPr>
        <p:spPr>
          <a:xfrm>
            <a:off x="5500694" y="5643578"/>
            <a:ext cx="35004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[1] – figura adaptada de: </a:t>
            </a:r>
          </a:p>
          <a:p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João Ferreira.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Transient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response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and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control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of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pump-reflecting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RFA. FIO 2010.</a:t>
            </a:r>
            <a:endParaRPr lang="pt-PT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7143768" y="185736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[1]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Testes Realizados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pic>
        <p:nvPicPr>
          <p:cNvPr id="4098" name="Picture 2" descr="D:\Documents and Settings\Pedro\Ambiente de trabalho\final\figs\comparacao001-00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1182" y="2428868"/>
            <a:ext cx="5362520" cy="3639405"/>
          </a:xfrm>
          <a:prstGeom prst="rect">
            <a:avLst/>
          </a:prstGeom>
          <a:noFill/>
        </p:spPr>
      </p:pic>
      <p:sp>
        <p:nvSpPr>
          <p:cNvPr id="8" name="Rectângulo 7"/>
          <p:cNvSpPr/>
          <p:nvPr/>
        </p:nvSpPr>
        <p:spPr>
          <a:xfrm>
            <a:off x="6643702" y="5241209"/>
            <a:ext cx="24288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figura adaptada de: </a:t>
            </a:r>
          </a:p>
          <a:p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João Ferreira.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Transient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response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and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control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of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PT" sz="1200" dirty="0" err="1" smtClean="0">
                <a:solidFill>
                  <a:schemeClr val="accent5">
                    <a:lumMod val="50000"/>
                  </a:schemeClr>
                </a:solidFill>
              </a:rPr>
              <a:t>pump-reflecting</a:t>
            </a:r>
            <a:r>
              <a:rPr lang="pt-PT" sz="1200" dirty="0" smtClean="0">
                <a:solidFill>
                  <a:schemeClr val="accent5">
                    <a:lumMod val="50000"/>
                  </a:schemeClr>
                </a:solidFill>
              </a:rPr>
              <a:t> RFA. FIO 2010.</a:t>
            </a:r>
            <a:endParaRPr lang="pt-PT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Protótipo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Fotodetector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Primeiras versões do protótipo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11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3165833"/>
            <a:ext cx="4857784" cy="31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Grupo 11"/>
          <p:cNvGrpSpPr/>
          <p:nvPr/>
        </p:nvGrpSpPr>
        <p:grpSpPr>
          <a:xfrm>
            <a:off x="6858016" y="2071678"/>
            <a:ext cx="1643074" cy="1684257"/>
            <a:chOff x="6858016" y="2071678"/>
            <a:chExt cx="1643074" cy="1684257"/>
          </a:xfrm>
        </p:grpSpPr>
        <p:grpSp>
          <p:nvGrpSpPr>
            <p:cNvPr id="10" name="Grupo 9"/>
            <p:cNvGrpSpPr/>
            <p:nvPr/>
          </p:nvGrpSpPr>
          <p:grpSpPr>
            <a:xfrm>
              <a:off x="6858016" y="2071678"/>
              <a:ext cx="1215179" cy="1684257"/>
              <a:chOff x="6143636" y="1571612"/>
              <a:chExt cx="1215179" cy="1684257"/>
            </a:xfrm>
          </p:grpSpPr>
          <p:pic>
            <p:nvPicPr>
              <p:cNvPr id="4098" name="Picture 2"/>
              <p:cNvPicPr>
                <a:picLocks noChangeAspect="1" noChangeArrowheads="1"/>
              </p:cNvPicPr>
              <p:nvPr/>
            </p:nvPicPr>
            <p:blipFill>
              <a:blip r:embed="rId5"/>
              <a:srcRect l="10670" t="13159" r="11793" b="37284"/>
              <a:stretch>
                <a:fillRect/>
              </a:stretch>
            </p:blipFill>
            <p:spPr bwMode="auto">
              <a:xfrm rot="16200000">
                <a:off x="5980535" y="1877589"/>
                <a:ext cx="1684257" cy="10723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9" name="Oval 8"/>
              <p:cNvSpPr/>
              <p:nvPr/>
            </p:nvSpPr>
            <p:spPr>
              <a:xfrm>
                <a:off x="6143636" y="1928802"/>
                <a:ext cx="214314" cy="214314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11" name="CaixaDeTexto 10"/>
            <p:cNvSpPr txBox="1"/>
            <p:nvPr/>
          </p:nvSpPr>
          <p:spPr>
            <a:xfrm>
              <a:off x="7929586" y="2643182"/>
              <a:ext cx="571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 smtClean="0">
                  <a:solidFill>
                    <a:schemeClr val="accent5">
                      <a:lumMod val="50000"/>
                    </a:schemeClr>
                  </a:solidFill>
                </a:rPr>
                <a:t>10k</a:t>
              </a:r>
              <a:endParaRPr lang="pt-PT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aphicFrame>
        <p:nvGraphicFramePr>
          <p:cNvPr id="13" name="Objecto 12"/>
          <p:cNvGraphicFramePr>
            <a:graphicFrameLocks noChangeAspect="1"/>
          </p:cNvGraphicFramePr>
          <p:nvPr/>
        </p:nvGraphicFramePr>
        <p:xfrm>
          <a:off x="714348" y="5715016"/>
          <a:ext cx="1799777" cy="785818"/>
        </p:xfrm>
        <a:graphic>
          <a:graphicData uri="http://schemas.openxmlformats.org/presentationml/2006/ole">
            <p:oleObj spid="_x0000_s1026" name="Equação" r:id="rId6" imgW="90144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12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pic>
        <p:nvPicPr>
          <p:cNvPr id="5122" name="Picture 2" descr="D:\Documents and Settings\Pedro\Ambiente de trabalho\final\figs\SCHEMATIC1versaoFinal.png"/>
          <p:cNvPicPr>
            <a:picLocks noChangeAspect="1" noChangeArrowheads="1"/>
          </p:cNvPicPr>
          <p:nvPr/>
        </p:nvPicPr>
        <p:blipFill>
          <a:blip r:embed="rId3" cstate="print"/>
          <a:srcRect l="2857" t="337" r="952" b="5387"/>
          <a:stretch>
            <a:fillRect/>
          </a:stretch>
        </p:blipFill>
        <p:spPr bwMode="auto">
          <a:xfrm rot="16200000">
            <a:off x="2588851" y="517156"/>
            <a:ext cx="4894994" cy="6786610"/>
          </a:xfrm>
          <a:prstGeom prst="rect">
            <a:avLst/>
          </a:prstGeom>
          <a:noFill/>
        </p:spPr>
      </p:pic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Protótipo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Testes Realizados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pic>
        <p:nvPicPr>
          <p:cNvPr id="7" name="Imagem 6" descr="exp2_so_s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6" y="2526860"/>
            <a:ext cx="6347381" cy="3831098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1428728" y="3000372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Exp</a:t>
            </a: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. 2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6" name="Grupo 10"/>
          <p:cNvGrpSpPr/>
          <p:nvPr/>
        </p:nvGrpSpPr>
        <p:grpSpPr>
          <a:xfrm>
            <a:off x="3842370" y="1428736"/>
            <a:ext cx="5230224" cy="3156814"/>
            <a:chOff x="3842370" y="1428736"/>
            <a:chExt cx="5230224" cy="3156814"/>
          </a:xfrm>
        </p:grpSpPr>
        <p:pic>
          <p:nvPicPr>
            <p:cNvPr id="8" name="Imagem 7" descr="exp3_so_sina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42370" y="1428736"/>
              <a:ext cx="5230224" cy="3156814"/>
            </a:xfrm>
            <a:prstGeom prst="rect">
              <a:avLst/>
            </a:prstGeom>
          </p:spPr>
        </p:pic>
        <p:sp>
          <p:nvSpPr>
            <p:cNvPr id="10" name="CaixaDeTexto 9"/>
            <p:cNvSpPr txBox="1"/>
            <p:nvPr/>
          </p:nvSpPr>
          <p:spPr>
            <a:xfrm>
              <a:off x="7286644" y="3571876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 err="1" smtClean="0">
                  <a:solidFill>
                    <a:schemeClr val="accent5">
                      <a:lumMod val="50000"/>
                    </a:schemeClr>
                  </a:solidFill>
                </a:rPr>
                <a:t>Exp</a:t>
              </a:r>
              <a:r>
                <a:rPr lang="pt-PT" dirty="0" smtClean="0">
                  <a:solidFill>
                    <a:schemeClr val="accent5">
                      <a:lumMod val="50000"/>
                    </a:schemeClr>
                  </a:solidFill>
                </a:rPr>
                <a:t>. 3</a:t>
              </a:r>
              <a:endParaRPr lang="pt-PT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Testes Realizados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2071678"/>
            <a:ext cx="7658098" cy="4237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ângulo 6"/>
          <p:cNvSpPr/>
          <p:nvPr/>
        </p:nvSpPr>
        <p:spPr>
          <a:xfrm>
            <a:off x="1000100" y="2428868"/>
            <a:ext cx="357190" cy="385765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ctângulo 7"/>
          <p:cNvSpPr/>
          <p:nvPr/>
        </p:nvSpPr>
        <p:spPr>
          <a:xfrm>
            <a:off x="4143372" y="2143116"/>
            <a:ext cx="928694" cy="41434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ctângulo 8"/>
          <p:cNvSpPr/>
          <p:nvPr/>
        </p:nvSpPr>
        <p:spPr>
          <a:xfrm>
            <a:off x="5143504" y="2143116"/>
            <a:ext cx="1428760" cy="41434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Rectângulo 9"/>
          <p:cNvSpPr/>
          <p:nvPr/>
        </p:nvSpPr>
        <p:spPr>
          <a:xfrm>
            <a:off x="2071670" y="2143116"/>
            <a:ext cx="2000264" cy="41434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Testes Realizados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15</a:t>
            </a:fld>
            <a:endParaRPr lang="pt-PT" dirty="0"/>
          </a:p>
        </p:txBody>
      </p:sp>
      <p:pic>
        <p:nvPicPr>
          <p:cNvPr id="13" name="Imagem 12" descr="exp8_so_s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4149"/>
            <a:ext cx="6143636" cy="370812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1428728" y="334542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Exp</a:t>
            </a: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. 8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 smtClean="0"/>
              <a:t>Controlo do Regime Transitório em Amplificadores Ópticos de </a:t>
            </a:r>
            <a:r>
              <a:rPr lang="pt-PT" dirty="0" err="1" smtClean="0"/>
              <a:t>Raman</a:t>
            </a:r>
            <a:endParaRPr lang="pt-PT" dirty="0"/>
          </a:p>
        </p:txBody>
      </p:sp>
      <p:grpSp>
        <p:nvGrpSpPr>
          <p:cNvPr id="16" name="Grupo 15"/>
          <p:cNvGrpSpPr/>
          <p:nvPr/>
        </p:nvGrpSpPr>
        <p:grpSpPr>
          <a:xfrm>
            <a:off x="4000496" y="1428736"/>
            <a:ext cx="4885194" cy="3342868"/>
            <a:chOff x="4000496" y="1428736"/>
            <a:chExt cx="4885194" cy="3342868"/>
          </a:xfrm>
        </p:grpSpPr>
        <p:pic>
          <p:nvPicPr>
            <p:cNvPr id="14" name="Imagem 13" descr="exp9_4grafs_so_sina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0496" y="1428736"/>
              <a:ext cx="4885194" cy="3342868"/>
            </a:xfrm>
            <a:prstGeom prst="rect">
              <a:avLst/>
            </a:prstGeom>
          </p:spPr>
        </p:pic>
        <p:sp>
          <p:nvSpPr>
            <p:cNvPr id="15" name="CaixaDeTexto 14"/>
            <p:cNvSpPr txBox="1"/>
            <p:nvPr/>
          </p:nvSpPr>
          <p:spPr>
            <a:xfrm>
              <a:off x="4643438" y="1571612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 err="1" smtClean="0">
                  <a:solidFill>
                    <a:schemeClr val="accent5">
                      <a:lumMod val="50000"/>
                    </a:schemeClr>
                  </a:solidFill>
                </a:rPr>
                <a:t>Exp</a:t>
              </a:r>
              <a:r>
                <a:rPr lang="pt-PT" dirty="0" smtClean="0">
                  <a:solidFill>
                    <a:schemeClr val="accent5">
                      <a:lumMod val="50000"/>
                    </a:schemeClr>
                  </a:solidFill>
                </a:rPr>
                <a:t>. 9</a:t>
              </a:r>
              <a:endParaRPr lang="pt-PT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54098"/>
          </a:xfrm>
        </p:spPr>
        <p:txBody>
          <a:bodyPr>
            <a:noAutofit/>
          </a:bodyPr>
          <a:lstStyle/>
          <a:p>
            <a:r>
              <a:rPr lang="pt-PT" sz="3600" dirty="0" smtClean="0"/>
              <a:t>Controlo Experimental de um Amplificador de </a:t>
            </a:r>
            <a:r>
              <a:rPr lang="pt-PT" sz="3600" dirty="0" err="1" smtClean="0"/>
              <a:t>Raman</a:t>
            </a:r>
            <a:r>
              <a:rPr lang="pt-PT" sz="3600" dirty="0" smtClean="0"/>
              <a:t> com Reflexão de Bomba</a:t>
            </a:r>
            <a:endParaRPr lang="pt-PT" sz="36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Testes Realizados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16</a:t>
            </a:fld>
            <a:endParaRPr lang="pt-PT"/>
          </a:p>
        </p:txBody>
      </p:sp>
      <p:pic>
        <p:nvPicPr>
          <p:cNvPr id="9" name="Imagem 8" descr="exp5_so_s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2" y="3098364"/>
            <a:ext cx="5637229" cy="3402470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1428728" y="334542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 smtClean="0">
                <a:solidFill>
                  <a:schemeClr val="accent5">
                    <a:lumMod val="50000"/>
                  </a:schemeClr>
                </a:solidFill>
              </a:rPr>
              <a:t>Exp</a:t>
            </a:r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. 5</a:t>
            </a:r>
            <a:endParaRPr lang="pt-PT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 smtClean="0"/>
              <a:t>Controlo do Regime Transitório em Amplificadores Ópticos de </a:t>
            </a:r>
            <a:r>
              <a:rPr lang="pt-PT" dirty="0" err="1" smtClean="0"/>
              <a:t>Raman</a:t>
            </a:r>
            <a:endParaRPr lang="pt-PT" dirty="0"/>
          </a:p>
        </p:txBody>
      </p:sp>
      <p:grpSp>
        <p:nvGrpSpPr>
          <p:cNvPr id="13" name="Grupo 12"/>
          <p:cNvGrpSpPr/>
          <p:nvPr/>
        </p:nvGrpSpPr>
        <p:grpSpPr>
          <a:xfrm>
            <a:off x="3786182" y="1357297"/>
            <a:ext cx="5214974" cy="3147609"/>
            <a:chOff x="3786182" y="1357297"/>
            <a:chExt cx="5214974" cy="3147609"/>
          </a:xfrm>
        </p:grpSpPr>
        <p:pic>
          <p:nvPicPr>
            <p:cNvPr id="11" name="Imagem 10" descr="exp7_so_sina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86182" y="1357297"/>
              <a:ext cx="5214974" cy="3147609"/>
            </a:xfrm>
            <a:prstGeom prst="rect">
              <a:avLst/>
            </a:prstGeom>
          </p:spPr>
        </p:pic>
        <p:sp>
          <p:nvSpPr>
            <p:cNvPr id="12" name="CaixaDeTexto 11"/>
            <p:cNvSpPr txBox="1"/>
            <p:nvPr/>
          </p:nvSpPr>
          <p:spPr>
            <a:xfrm>
              <a:off x="4714876" y="1643050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 err="1" smtClean="0">
                  <a:solidFill>
                    <a:schemeClr val="accent5">
                      <a:lumMod val="50000"/>
                    </a:schemeClr>
                  </a:solidFill>
                </a:rPr>
                <a:t>Exp</a:t>
              </a:r>
              <a:r>
                <a:rPr lang="pt-PT" dirty="0" smtClean="0">
                  <a:solidFill>
                    <a:schemeClr val="accent5">
                      <a:lumMod val="50000"/>
                    </a:schemeClr>
                  </a:solidFill>
                </a:rPr>
                <a:t>. 7</a:t>
              </a:r>
              <a:endParaRPr lang="pt-PT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Conclusão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É possível via controlo inferencial da bomba reduzir o transitório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RFA com reflexão de bomba: bom ganho, controlo do efeito transitório, eficiente e de baixo custo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17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Conclusão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Possível Trabalho Futuro: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Uso de melhor </a:t>
            </a:r>
            <a:r>
              <a:rPr lang="pt-PT" i="1" dirty="0" smtClean="0">
                <a:solidFill>
                  <a:schemeClr val="accent5">
                    <a:lumMod val="50000"/>
                  </a:schemeClr>
                </a:solidFill>
              </a:rPr>
              <a:t>laser driver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Uso de melhores amplificadores simples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Testar um transitório mais elevado (mais real)</a:t>
            </a:r>
          </a:p>
          <a:p>
            <a:pPr lvl="1"/>
            <a:r>
              <a:rPr lang="pt-PT" dirty="0" smtClean="0">
                <a:solidFill>
                  <a:schemeClr val="accent5">
                    <a:lumMod val="50000"/>
                  </a:schemeClr>
                </a:solidFill>
              </a:rPr>
              <a:t>Controlo com várias bombas em simultâneo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F6C7-8ADF-478C-9F0A-D5C3A4BB048E}" type="slidenum">
              <a:rPr lang="pt-PT" smtClean="0"/>
              <a:pPr/>
              <a:t>18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Controlo do Regime Transitório em Amplificadores Ópticos de Raman</a:t>
            </a:r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5138</TotalTime>
  <Words>1120</Words>
  <Application>Microsoft Office PowerPoint</Application>
  <PresentationFormat>Apresentação no Ecrã (4:3)</PresentationFormat>
  <Paragraphs>179</Paragraphs>
  <Slides>18</Slides>
  <Notes>18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0" baseType="lpstr">
      <vt:lpstr>Tema do Office</vt:lpstr>
      <vt:lpstr>Equação</vt:lpstr>
      <vt:lpstr>Controlo do Regime Transitório em Amplificadores Ópticos de Raman</vt:lpstr>
      <vt:lpstr>Estrutura</vt:lpstr>
      <vt:lpstr>Introdução</vt:lpstr>
      <vt:lpstr>Introdução</vt:lpstr>
      <vt:lpstr>Introdução</vt:lpstr>
      <vt:lpstr>Efeito Transitório </vt:lpstr>
      <vt:lpstr>Mitigação do Efeito Transitório </vt:lpstr>
      <vt:lpstr>Controlo Experimental de um Amplificador de Raman com Reflexão de Bomba</vt:lpstr>
      <vt:lpstr>Controlo Experimental de um Amplificador de Raman com Reflexão de Bomba</vt:lpstr>
      <vt:lpstr>Controlo Experimental de um Amplificador de Raman com Reflexão de Bomba</vt:lpstr>
      <vt:lpstr>Controlo Experimental de um Amplificador de Raman com Reflexão de Bomba</vt:lpstr>
      <vt:lpstr>Controlo Experimental de um Amplificador de Raman com Reflexão de Bomba</vt:lpstr>
      <vt:lpstr>Controlo Experimental de um Amplificador de Raman com Reflexão de Bomba</vt:lpstr>
      <vt:lpstr>Controlo Experimental de um Amplificador de Raman com Reflexão de Bomba</vt:lpstr>
      <vt:lpstr>Controlo Experimental de um Amplificador de Raman com Reflexão de Bomba</vt:lpstr>
      <vt:lpstr>Controlo Experimental de um Amplificador de Raman com Reflexão de Bomba</vt:lpstr>
      <vt:lpstr>Conclusão</vt:lpstr>
      <vt:lpstr>Conclusão</vt:lpstr>
    </vt:vector>
  </TitlesOfParts>
  <Company>FEUP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Controlo do Regime Transitório em Amplificadores Ópticos de Raman</dc:title>
  <dc:creator>Pedro</dc:creator>
  <cp:lastModifiedBy>Pedro</cp:lastModifiedBy>
  <cp:revision>188</cp:revision>
  <dcterms:created xsi:type="dcterms:W3CDTF">2010-06-17T21:47:43Z</dcterms:created>
  <dcterms:modified xsi:type="dcterms:W3CDTF">2010-07-18T14:19:44Z</dcterms:modified>
</cp:coreProperties>
</file>